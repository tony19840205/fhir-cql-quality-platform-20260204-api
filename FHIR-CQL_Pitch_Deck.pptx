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FHIR-CQL 醫療品質量測平台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Aft>
                <a:spcPts val="600"/>
              </a:spcAft>
              <a:defRPr sz="2800" b="0">
                <a:solidFill>
                  <a:srgbClr val="0096D6"/>
                </a:solidFill>
                <a:latin typeface="Microsoft JhengHei"/>
              </a:defRPr>
            </a:pPr>
            <a:r>
              <a:t>台灣首個 FHIR 原生品質指標自動計算引擎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Aft>
                <a:spcPts val="600"/>
              </a:spcAft>
              <a:defRPr sz="2000" b="0">
                <a:solidFill>
                  <a:srgbClr val="6B7B8D"/>
                </a:solidFill>
                <a:latin typeface="Microsoft JhengHei"/>
              </a:defRPr>
            </a:pPr>
            <a:r>
              <a:t>39 項品質指標 ｜ 傳染病監控 ｜ 公衛追蹤 ｜ ESG 永續報告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Aft>
                <a:spcPts val="600"/>
              </a:spcAft>
              <a:defRPr sz="1800" b="0">
                <a:solidFill>
                  <a:srgbClr val="6B7B8D"/>
                </a:solidFill>
                <a:latin typeface="Microsoft JhengHei"/>
              </a:defRPr>
            </a:pPr>
            <a:r>
              <a:t>種子輪募資簡報  |  2026 年 4 月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5029200"/>
            <a:ext cx="2926080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5074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🏆 衛福部 SMART 50 得獎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5532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JhengHei"/>
              </a:defRPr>
            </a:pPr>
            <a:r>
              <a:t>📋 專利申請中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Microsoft JhengHei"/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❌  問題：醫院品質指標的困境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51760" cy="438912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2B46"/>
                </a:solidFill>
                <a:latin typeface="Microsoft JhengHei"/>
              </a:defRPr>
            </a:pPr>
            <a:r>
              <a:t>⏱️ 人工統計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Microsoft JhengHei"/>
              </a:defRPr>
            </a:pPr>
            <a:r>
              <a:t>全台 400+ 家醫院，每季手動</a:t>
            </a:r>
            <a:br/>
            <a:r>
              <a:t>統計數十項品質指標</a:t>
            </a:r>
            <a:br/>
            <a:br/>
            <a:r>
              <a:t>每院投入 2-3 名專責人力</a:t>
            </a:r>
            <a:br/>
            <a:r>
              <a:t>全國每年浪費數億人力成本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645920"/>
            <a:ext cx="2651760" cy="438912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2B46"/>
                </a:solidFill>
                <a:latin typeface="Microsoft JhengHei"/>
              </a:defRPr>
            </a:pPr>
            <a:r>
              <a:t>🔀 系統不相容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4688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Microsoft JhengHei"/>
              </a:defRPr>
            </a:pPr>
            <a:r>
              <a:t>各醫院 HIS 系統皆不相同</a:t>
            </a:r>
            <a:br/>
            <a:r>
              <a:t>傳統方式：每院客製 SQL</a:t>
            </a:r>
            <a:br/>
            <a:r>
              <a:t>接 400 家要做 400 次</a:t>
            </a:r>
            <a:br/>
            <a:br/>
            <a:r>
              <a:t>擴展成本與醫院數成正比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651760" cy="438912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2B46"/>
                </a:solidFill>
                <a:latin typeface="Microsoft JhengHei"/>
              </a:defRPr>
            </a:pPr>
            <a:r>
              <a:t>📊 數據孤島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Microsoft JhengHei"/>
              </a:defRPr>
            </a:pPr>
            <a:r>
              <a:t>各醫院指標數據各自獨立</a:t>
            </a:r>
            <a:br/>
            <a:r>
              <a:t>無法跨院比較</a:t>
            </a:r>
            <a:br/>
            <a:r>
              <a:t>無法即時監控全國趨勢</a:t>
            </a:r>
            <a:br/>
            <a:br/>
            <a:r>
              <a:t>寶貴數據被鎖在各院圍牆內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645920"/>
            <a:ext cx="2651760" cy="438912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2B46"/>
                </a:solidFill>
                <a:latin typeface="Microsoft JhengHei"/>
              </a:defRPr>
            </a:pPr>
            <a:r>
              <a:t>📋 政策壓力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4688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Microsoft JhengHei"/>
              </a:defRPr>
            </a:pPr>
            <a:r>
              <a:t>衛福部次世代電子病歷計畫</a:t>
            </a:r>
            <a:br/>
            <a:r>
              <a:t>強制推行 FHIR 標準</a:t>
            </a:r>
            <a:br/>
            <a:r>
              <a:t>品質指標即將要求電子化申報</a:t>
            </a:r>
            <a:br/>
            <a:br/>
            <a:r>
              <a:t>醫院急需解決方案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Health Catalyst 用傳統架構做了 18 年，每院導入要 6-12 個月、50-100 萬美元，市值已從 60 億跌到 8 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Microsoft JhengHei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✅  解決方案：FHIR + CQL 自動品質量測引擎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303520" cy="2286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0F2B46"/>
                </a:solidFill>
                <a:latin typeface="Microsoft JhengHei"/>
              </a:defRPr>
            </a:pPr>
            <a:r>
              <a:t>🔌 USB-C 比喻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1A1A2E"/>
                </a:solidFill>
                <a:latin typeface="Microsoft JhengHei"/>
              </a:defRPr>
            </a:pPr>
          </a:p>
          <a:p>
            <a:pPr algn="l">
              <a:spcAft>
                <a:spcPts val="600"/>
              </a:spcAft>
              <a:defRPr sz="1600" b="0">
                <a:solidFill>
                  <a:srgbClr val="E83E3E"/>
                </a:solidFill>
                <a:latin typeface="Microsoft JhengHei"/>
              </a:defRPr>
            </a:pPr>
            <a:r>
              <a:t>傳統方式 = 每家醫院不同插座，做 400 個轉接頭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00A65A"/>
                </a:solidFill>
                <a:latin typeface="Microsoft JhengHei"/>
              </a:defRPr>
            </a:pPr>
            <a:r>
              <a:t>我們的方式 = USB-C 統一介面，插上就能用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1A1A2E"/>
                </a:solidFill>
                <a:latin typeface="Microsoft JhengHei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6B7B8D"/>
                </a:solidFill>
                <a:latin typeface="Microsoft JhengHei"/>
              </a:defRPr>
            </a:pPr>
            <a:r>
              <a:t>衛福部已規定所有醫院要裝 FHIR（USB-C）</a:t>
            </a:r>
          </a:p>
          <a:p>
            <a:pPr algn="l">
              <a:spcAft>
                <a:spcPts val="600"/>
              </a:spcAft>
              <a:defRPr sz="1500" b="1">
                <a:solidFill>
                  <a:srgbClr val="006DAA"/>
                </a:solidFill>
                <a:latin typeface="Microsoft JhengHei"/>
              </a:defRPr>
            </a:pPr>
            <a:r>
              <a:t>我們提前做好了充電器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8C00"/>
                </a:solidFill>
                <a:latin typeface="Microsoft JhengHei"/>
              </a:defRPr>
            </a:pPr>
            <a: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8D"/>
                </a:solidFill>
                <a:latin typeface="Microsoft JhengHei"/>
              </a:defRPr>
            </a:pPr>
            <a:r>
              <a:t>項品質指標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459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8C00"/>
                </a:solidFill>
                <a:latin typeface="Microsoft JhengHei"/>
              </a:defRPr>
            </a:pPr>
            <a:r>
              <a:t>50+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86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8D"/>
                </a:solidFill>
                <a:latin typeface="Microsoft JhengHei"/>
              </a:defRPr>
            </a:pPr>
            <a:r>
              <a:t>CQL 查詢檔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6459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8C00"/>
                </a:solidFill>
                <a:latin typeface="Microsoft JhengHei"/>
              </a:defRPr>
            </a:pPr>
            <a:r>
              <a:t>645+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286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8D"/>
                </a:solidFill>
                <a:latin typeface="Microsoft JhengHei"/>
              </a:defRPr>
            </a:pPr>
            <a:r>
              <a:t>測試病人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16459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8C00"/>
                </a:solidFill>
                <a:latin typeface="Microsoft JhengHe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2286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8D"/>
                </a:solidFill>
                <a:latin typeface="Microsoft JhengHei"/>
              </a:defRPr>
            </a:pPr>
            <a:r>
              <a:t>大儀表板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402336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480560"/>
                <a:gridCol w="4480560"/>
              </a:tblGrid>
              <a:tr h="42672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</a:p>
                  </a:txBody>
                  <a:tcPr anchor="ctr">
                    <a:solidFill>
                      <a:srgbClr val="006D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傳統資料庫方式</a:t>
                      </a:r>
                    </a:p>
                  </a:txBody>
                  <a:tcPr anchor="ctr">
                    <a:solidFill>
                      <a:srgbClr val="006D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FHIR + CQL（我們）</a:t>
                      </a:r>
                    </a:p>
                  </a:txBody>
                  <a:tcPr anchor="ctr">
                    <a:solidFill>
                      <a:srgbClr val="006DA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接入新醫院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3-6 個月/院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1-2 週/院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工程師需求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每院需了解 DB schema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CQL 通用，不需客製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指標邏輯修改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改 400 套 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改 1 份 CQL，全部生效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跨院比較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欄位不同，耗人力對齊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FHIR 標準化，天生可比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邊際成本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O(n) 隨醫院數成長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O(1) 趨近於零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Microsoft JhengHei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🖥️  產品：四大即時儀表板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2743200" cy="73152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536192"/>
            <a:ext cx="27432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AA"/>
                </a:solidFill>
                <a:latin typeface="Microsoft JhengHei"/>
              </a:defRPr>
            </a:pPr>
            <a:r>
              <a:t>📊 醫療品質指標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Microsoft JhengHei"/>
              </a:defRPr>
            </a:pPr>
            <a:r>
              <a:t>39 項健保品質指標</a:t>
            </a:r>
            <a:br/>
            <a:r>
              <a:t>自動計算分子/分母</a:t>
            </a:r>
            <a:br/>
            <a:r>
              <a:t>涵蓋用藥安全、門診、</a:t>
            </a:r>
            <a:br/>
            <a:r>
              <a:t>住院、手術、結果面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463040"/>
            <a:ext cx="2743200" cy="73152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91840" y="1536192"/>
            <a:ext cx="27432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3E3E"/>
                </a:solidFill>
                <a:latin typeface="Microsoft JhengHei"/>
              </a:defRPr>
            </a:pPr>
            <a:r>
              <a:t>🦠 傳染病監控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8600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Microsoft JhengHei"/>
              </a:defRPr>
            </a:pPr>
            <a:r>
              <a:t>COVID-19、流感、登革熱</a:t>
            </a:r>
            <a:br/>
            <a:r>
              <a:t>腸病毒、急性腹瀉</a:t>
            </a:r>
            <a:br/>
            <a:r>
              <a:t>ICD-10 + SNOMED CT</a:t>
            </a:r>
            <a:br/>
            <a:r>
              <a:t>即時疫情趨勢追蹤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2743200" cy="73152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536192"/>
            <a:ext cx="27432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65A"/>
                </a:solidFill>
                <a:latin typeface="Microsoft JhengHei"/>
              </a:defRPr>
            </a:pPr>
            <a:r>
              <a:t>🏥 公共衛生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Microsoft JhengHei"/>
              </a:defRPr>
            </a:pPr>
            <a:r>
              <a:t>COVID-19 疫苗覆蓋率</a:t>
            </a:r>
            <a:br/>
            <a:r>
              <a:t>流感疫苗接種率</a:t>
            </a:r>
            <a:br/>
            <a:r>
              <a:t>高血壓活動個案追蹤</a:t>
            </a:r>
            <a:br/>
            <a:r>
              <a:t>WHO 標準對接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463040"/>
            <a:ext cx="2743200" cy="73152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0" y="1536192"/>
            <a:ext cx="27432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E3C"/>
                </a:solidFill>
                <a:latin typeface="Microsoft JhengHei"/>
              </a:defRPr>
            </a:pPr>
            <a:r>
              <a:t>🌱 ESG 永續指標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28600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Microsoft JhengHei"/>
              </a:defRPr>
            </a:pPr>
            <a:r>
              <a:t>抗生素 AWaRe 分級</a:t>
            </a:r>
            <a:br/>
            <a:r>
              <a:t>電子病歷採用率</a:t>
            </a:r>
            <a:br/>
            <a:r>
              <a:t>醫療廢棄物管理</a:t>
            </a:r>
            <a:br/>
            <a:r>
              <a:t>GRI 306 標準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669280"/>
            <a:ext cx="11430000" cy="8229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715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8D"/>
                </a:solidFill>
                <a:latin typeface="Microsoft JhengHei"/>
              </a:defRPr>
            </a:pPr>
            <a:r>
              <a:t>技術棧：FHIR R4  |  CQL (Clinical Quality Language)  |  TW Core  |  ICD-10 / SNOMED CT / LOINC  |  Express.js  |  SMART on FHIR OAuth 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Microsoft JhengHei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📋  39 項品質指標全覽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82296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類別</a:t>
                      </a:r>
                    </a:p>
                  </a:txBody>
                  <a:tcPr anchor="ctr">
                    <a:solidFill>
                      <a:srgbClr val="006D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數量</a:t>
                      </a:r>
                    </a:p>
                  </a:txBody>
                  <a:tcPr anchor="ctr">
                    <a:solidFill>
                      <a:srgbClr val="006D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代表性指標</a:t>
                      </a:r>
                    </a:p>
                  </a:txBody>
                  <a:tcPr anchor="ctr">
                    <a:solidFill>
                      <a:srgbClr val="006DA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用藥安全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門診注射率、門診抗生素使用率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藥物重疊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同院/跨院重複用藥（降壓、降血脂、降血糖等 8 類）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門診品質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慢性病連續處方、多重用藥、兒童氣喘急診、糖尿病 HbA1c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住院品質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14 天非計畫再住院、3 天內急診、剖腹產率（4 類）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手術品質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清潔手術抗生素、體外震波碎石、人工膝關節感染率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結果面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AMI 死亡率、失智症安寧療護利用率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0F2B46"/>
                </a:solidFill>
                <a:latin typeface="Microsoft JhengHei"/>
              </a:defRPr>
            </a:pPr>
            <a:r>
              <a:t>每項指標都有完整的 CQL 定義 → 可在任何 FHIR Server 上即時計算分子、分母、百分比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B7B8D"/>
                </a:solidFill>
                <a:latin typeface="Microsoft JhengHei"/>
              </a:defRPr>
            </a:pPr>
            <a:r>
              <a:t>對接台灣健保署品質指標代碼，可直接用於醫院評鑑申報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B7B8D"/>
                </a:solidFill>
                <a:latin typeface="Microsoft JhengHei"/>
              </a:defRPr>
            </a:pPr>
            <a:r>
              <a:t>支援多重編碼系統：ICD-10-CM / SNOMED CT / LOINC / NHI / ATC 藥物分類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Microsoft JhengHei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💰  商業模式：免費工具 → 數據聚合 → 數據變現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356616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0" y="1645920"/>
            <a:ext cx="822960" cy="8229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6916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Microsoft JhengHei"/>
              </a:defRPr>
            </a:pPr>
            <a:r>
              <a:t>第一幕：搶覆蓋率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Microsoft JhengHei"/>
              </a:defRPr>
            </a:pPr>
            <a:r>
              <a:t>免費幫醫院算品質指標</a:t>
            </a:r>
            <a:br/>
            <a:r>
              <a:t>↓</a:t>
            </a:r>
            <a:br/>
            <a:r>
              <a:t>醫院省下人力成本</a:t>
            </a:r>
            <a:br/>
            <a:r>
              <a:t>我們取得聚合後的指標數據</a:t>
            </a:r>
            <a:br/>
            <a:r>
              <a:t>（去識別化統計值，非個資）</a:t>
            </a:r>
            <a:br/>
            <a:br/>
            <a:r>
              <a:t>目標：2 年內 100+ 家醫院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852160"/>
            <a:ext cx="2103120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852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現在 → Year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6B7B8D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463040"/>
            <a:ext cx="356616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0" y="1645920"/>
            <a:ext cx="822960" cy="822960"/>
          </a:xfrm>
          <a:prstGeom prst="ellipse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6916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DAA"/>
                </a:solidFill>
                <a:latin typeface="Microsoft JhengHei"/>
              </a:defRPr>
            </a:pPr>
            <a:r>
              <a:t>第二幕：數據平台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01752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Microsoft JhengHei"/>
              </a:defRPr>
            </a:pPr>
            <a:r>
              <a:t>全台即時醫療品質數據集</a:t>
            </a:r>
            <a:br/>
            <a:r>
              <a:t>↓</a:t>
            </a:r>
            <a:br/>
            <a:r>
              <a:t>藥廠：疾病指標趨勢</a:t>
            </a:r>
            <a:br/>
            <a:r>
              <a:t>醫材商：手術品質數據</a:t>
            </a:r>
            <a:br/>
            <a:r>
              <a:t>保險公司：風險定價</a:t>
            </a:r>
            <a:br/>
            <a:r>
              <a:t>管顧機構：跨院比較報告</a:t>
            </a:r>
            <a:br/>
            <a:br/>
            <a:r>
              <a:t>「台灣版品質指標 IQVIA」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5852160"/>
            <a:ext cx="2103120" cy="320040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5852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Year 2 → Year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6B7B8D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463040"/>
            <a:ext cx="356616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26880" y="1645920"/>
            <a:ext cx="822960" cy="822960"/>
          </a:xfrm>
          <a:prstGeom prst="ellipse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6916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A65A"/>
                </a:solidFill>
                <a:latin typeface="Microsoft JhengHei"/>
              </a:defRPr>
            </a:pPr>
            <a:r>
              <a:t>第三幕：國際擴展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01752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Microsoft JhengHei"/>
              </a:defRPr>
            </a:pPr>
            <a:r>
              <a:t>CQL 是國際標準</a:t>
            </a:r>
            <a:br/>
            <a:r>
              <a:t>換 ValueSet 即可適配各國</a:t>
            </a:r>
            <a:br/>
            <a:r>
              <a:t>↓</a:t>
            </a:r>
            <a:br/>
            <a:r>
              <a:t>東南亞 FHIR 基礎建設外銷</a:t>
            </a:r>
            <a:br/>
            <a:r>
              <a:t>台灣 FHIR Server + 指標引擎</a:t>
            </a:r>
            <a:br/>
            <a:r>
              <a:t>打包輸出</a:t>
            </a:r>
            <a:br/>
            <a:br/>
            <a:r>
              <a:t>搭政府智慧醫療南向政策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0" y="5852160"/>
            <a:ext cx="2103120" cy="320040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5852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Year 4+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Microsoft JhengHei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📈  數據價值：誰會買？花多少錢？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67512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客戶類型</a:t>
                      </a:r>
                    </a:p>
                  </a:txBody>
                  <a:tcPr anchor="ctr">
                    <a:solidFill>
                      <a:srgbClr val="006D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他們要什麼</a:t>
                      </a:r>
                    </a:p>
                  </a:txBody>
                  <a:tcPr anchor="ctr">
                    <a:solidFill>
                      <a:srgbClr val="006D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價值等級</a:t>
                      </a:r>
                    </a:p>
                  </a:txBody>
                  <a:tcPr anchor="ctr">
                    <a:solidFill>
                      <a:srgbClr val="006DA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藥廠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特定疾病指標趨勢（如：糖尿病 HbA1c 檢測率變化）→ 評估藥品市場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💰💰💰 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醫材公司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手術品質指標（如：人工膝關節感染率）→ 證明產品效果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💰💰💰 中高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保險公司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醫院品質排名 → 風險定價依據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💰💰💰 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管顧/研究機構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跨院比較分析報告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💰💰 中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政府/NGO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公衛政策效果評估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Microsoft JhengHei"/>
                        </a:defRPr>
                      </a:pPr>
                      <a:r>
                        <a:t>💰 中低但量大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572000"/>
            <a:ext cx="11247120" cy="9144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6177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2B46"/>
                </a:solidFill>
                <a:latin typeface="Microsoft JhengHei"/>
              </a:defRPr>
            </a:pPr>
            <a:r>
              <a:t>數據價值公式：   醫院數量  ×  指標種類  ×  時間序列長度  =  壟斷性資產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6B7B8D"/>
                </a:solidFill>
                <a:latin typeface="Microsoft JhengHei"/>
              </a:defRPr>
            </a:pPr>
            <a:r>
              <a:t>參考案例：IQVIA 市值 400 億美元（聚合處方數據）| Flatiron Health 被 Roche 以 19 億美元收購（聚合腫瘤數據）</a:t>
            </a:r>
          </a:p>
          <a:p>
            <a:pPr algn="ctr">
              <a:spcAft>
                <a:spcPts val="600"/>
              </a:spcAft>
              <a:defRPr sz="1500" b="1">
                <a:solidFill>
                  <a:srgbClr val="006DAA"/>
                </a:solidFill>
                <a:latin typeface="Microsoft JhengHei"/>
              </a:defRPr>
            </a:pPr>
            <a:r>
              <a:t>我們的定位：台灣版「品質指標 IQVIA」— 規模小但模型相同，護城河一旦建立不可撼動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Microsoft JhengHei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🌐  市場規模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45920"/>
            <a:ext cx="3657600" cy="3657600"/>
          </a:xfrm>
          <a:prstGeom prst="ellipse">
            <a:avLst/>
          </a:prstGeom>
          <a:solidFill>
            <a:srgbClr val="CCDDFF"/>
          </a:solidFill>
          <a:ln w="254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B46"/>
                </a:solidFill>
                <a:latin typeface="Microsoft JhengHei"/>
              </a:defRPr>
            </a:pPr>
            <a:r>
              <a:t>TAM 全球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2B46"/>
                </a:solidFill>
                <a:latin typeface="Microsoft JhengHei"/>
              </a:defRPr>
            </a:pPr>
            <a:r>
              <a:t>全球醫療品質分析市場</a:t>
            </a:r>
            <a:br/>
            <a:r>
              <a:t>~150 億美元</a:t>
            </a:r>
            <a:br/>
            <a:r>
              <a:t>（含 Health Catalyst、Premier、</a:t>
            </a:r>
            <a:br/>
            <a:r>
              <a:t>Vizient 等同類產品市場）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2103120"/>
            <a:ext cx="2743200" cy="2743200"/>
          </a:xfrm>
          <a:prstGeom prst="ellipse">
            <a:avLst/>
          </a:prstGeom>
          <a:solidFill>
            <a:srgbClr val="99BBFF"/>
          </a:solidFill>
          <a:ln w="254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60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B46"/>
                </a:solidFill>
                <a:latin typeface="Microsoft JhengHei"/>
              </a:defRPr>
            </a:pPr>
            <a:r>
              <a:t>SAM 亞太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265176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2B46"/>
                </a:solidFill>
                <a:latin typeface="Microsoft JhengHei"/>
              </a:defRPr>
            </a:pPr>
            <a:r>
              <a:t>亞太 FHIR 品質量測市場</a:t>
            </a:r>
            <a:br/>
            <a:r>
              <a:t>~5 億美元</a:t>
            </a:r>
            <a:br/>
            <a:r>
              <a:t>（台灣 + 日韓 + 東南亞</a:t>
            </a:r>
            <a:br/>
            <a:r>
              <a:t>正在推 FHIR 的國家）</a:t>
            </a:r>
          </a:p>
        </p:txBody>
      </p:sp>
      <p:sp>
        <p:nvSpPr>
          <p:cNvPr id="10" name="Oval 9"/>
          <p:cNvSpPr/>
          <p:nvPr/>
        </p:nvSpPr>
        <p:spPr>
          <a:xfrm>
            <a:off x="8686800" y="2560320"/>
            <a:ext cx="2011680" cy="2011680"/>
          </a:xfrm>
          <a:prstGeom prst="ellipse">
            <a:avLst/>
          </a:prstGeom>
          <a:solidFill>
            <a:srgbClr val="006DAA"/>
          </a:solidFill>
          <a:ln w="254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SOM 台灣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310896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台灣醫院品質管理</a:t>
            </a:r>
            <a:br/>
            <a:r>
              <a:t>~3-5 億台幣</a:t>
            </a:r>
            <a:br/>
            <a:r>
              <a:t>（400+ 醫院 ×</a:t>
            </a:r>
            <a:br/>
            <a:r>
              <a:t>品質管理年預算）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F2B46"/>
                </a:solidFill>
                <a:latin typeface="Microsoft JhengHei"/>
              </a:defRPr>
            </a:pPr>
            <a:r>
              <a:t>短期：全台 400+ 醫院品質管理部門（SaaS 訂閱）  →  中期：衛福部 TW Health App Space 上架  →  長期：東南亞 FHIR 基礎建設外銷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Microsoft JhengHei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⚔️  競爭格局：FHIR 原生品質量測 = 空白市場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B8D"/>
                </a:solidFill>
                <a:latin typeface="Microsoft JhengHei"/>
              </a:defRPr>
            </a:pPr>
            <a:r>
              <a:t>← 傳統資料庫                        FHIR 原生 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03520" cy="21031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3E3E"/>
                </a:solidFill>
                <a:latin typeface="Microsoft JhengHei"/>
              </a:defRPr>
            </a:pPr>
            <a:r>
              <a:t>傳統架構 × 品質分析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JhengHei"/>
              </a:defRPr>
            </a:pPr>
            <a:r>
              <a:t>• Health Catalyst（美，市值 8 億美元）— 每院導入 6-12 月</a:t>
            </a:r>
            <a:br/>
            <a:r>
              <a:t>• Premier Inc.（美，市值 25 億美元）— 4,400 醫院 benchmarking</a:t>
            </a:r>
            <a:br/>
            <a:r>
              <a:t>• Vizient（美，營收 18 億美元）— 3,000 會員醫院</a:t>
            </a:r>
            <a:br/>
            <a:r>
              <a:t>• Medisolv（美，小型）— 專做 eCQM 提交</a:t>
            </a:r>
            <a:br/>
            <a:r>
              <a:t>• Arcadia（美，估值 10 億）— 人口健康管理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828800"/>
            <a:ext cx="5760720" cy="2103120"/>
          </a:xfrm>
          <a:prstGeom prst="rect">
            <a:avLst/>
          </a:prstGeom>
          <a:solidFill>
            <a:srgbClr val="E8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874519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65A"/>
                </a:solidFill>
                <a:latin typeface="Microsoft JhengHei"/>
              </a:defRPr>
            </a:pPr>
            <a:r>
              <a:t>FHIR 原生 × 品質分析</a:t>
            </a:r>
          </a:p>
        </p:txBody>
      </p:sp>
      <p:sp>
        <p:nvSpPr>
          <p:cNvPr id="10" name="Oval 9"/>
          <p:cNvSpPr/>
          <p:nvPr/>
        </p:nvSpPr>
        <p:spPr>
          <a:xfrm>
            <a:off x="7498079" y="2377440"/>
            <a:ext cx="2560320" cy="1280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2423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🔴 我們在這裡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JhengHei"/>
              </a:defRPr>
            </a:pPr>
            <a:r>
              <a:t>全球空白市場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303520" cy="18288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B8D"/>
                </a:solidFill>
                <a:latin typeface="Microsoft JhengHei"/>
              </a:defRPr>
            </a:pPr>
            <a:r>
              <a:t>傳統架構 × 數據平台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JhengHei"/>
              </a:defRPr>
            </a:pPr>
            <a:r>
              <a:t>• IQVIA（美，市值 400 億美元）— 處方數據聚合</a:t>
            </a:r>
            <a:br/>
            <a:r>
              <a:t>• Veeva Systems（美，市值 350 億美元）— 生命科學 CRM</a:t>
            </a:r>
            <a:br/>
            <a:r>
              <a:t>• Flatiron Health（被 Roche 19 億美元收購）— 腫瘤數據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4114800"/>
            <a:ext cx="5760720" cy="18288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41605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DAA"/>
                </a:solidFill>
                <a:latin typeface="Microsoft JhengHei"/>
              </a:defRPr>
            </a:pPr>
            <a:r>
              <a:t>FHIR 原生 × 基礎設施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48056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JhengHei"/>
              </a:defRPr>
            </a:pPr>
            <a:r>
              <a:t>• Smile CDR（加拿大，估值 3 億美元）— FHIR Server</a:t>
            </a:r>
            <a:br/>
            <a:r>
              <a:t>• Microsoft Azure FHIR — 雲端基礎設施</a:t>
            </a:r>
            <a:br/>
            <a:r>
              <a:t>• MITRE CQF — CQL 標準制定（非營利）</a:t>
            </a:r>
            <a:br/>
            <a:r>
              <a:t>• Lantana Group（美）— FHIR 品質量測顧問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Microsoft JhengHei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🔑  為什麼 FHIR？為什麼是現在？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2B46"/>
                </a:solidFill>
                <a:latin typeface="Microsoft JhengHei"/>
              </a:defRPr>
            </a:pPr>
            <a:r>
              <a:t>🏛️  衛福部強制推行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Microsoft JhengHei"/>
              </a:defRPr>
            </a:pPr>
            <a:r>
              <a:t>次世代電子病歷要求</a:t>
            </a:r>
            <a:br/>
            <a:r>
              <a:t>所有醫院建 FHIR Server</a:t>
            </a:r>
            <a:br/>
            <a:br/>
            <a:r>
              <a:t>這不是選配，是法規要求</a:t>
            </a:r>
            <a:br/>
            <a:r>
              <a:t>"火車已經開了"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4747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AA"/>
                </a:solidFill>
                <a:latin typeface="Microsoft JhengHei"/>
              </a:defRPr>
            </a:pPr>
            <a:r>
              <a:t>📐  TW Core 標準底定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Microsoft JhengHei"/>
              </a:defRPr>
            </a:pPr>
            <a:r>
              <a:t>台灣本土化 FHIR Profile</a:t>
            </a:r>
            <a:br/>
            <a:r>
              <a:t>已定義完成</a:t>
            </a:r>
            <a:br/>
            <a:br/>
            <a:r>
              <a:t>我們的 CQL 就是基於</a:t>
            </a:r>
            <a:br/>
            <a:r>
              <a:t>TW Core 編寫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63040"/>
            <a:ext cx="34747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Microsoft JhengHei"/>
              </a:defRPr>
            </a:pPr>
            <a:r>
              <a:t>📊  品質指標電子化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Microsoft JhengHei"/>
              </a:defRPr>
            </a:pPr>
            <a:r>
              <a:t>政府要求品質指標</a:t>
            </a:r>
            <a:br/>
            <a:r>
              <a:t>要能自動計算</a:t>
            </a:r>
            <a:br/>
            <a:r>
              <a:t>不再接受手動填報</a:t>
            </a:r>
            <a:br/>
            <a:br/>
            <a:r>
              <a:t>醫院的剛需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FF8C00"/>
                </a:solidFill>
                <a:latin typeface="Microsoft JhengHei"/>
              </a:defRPr>
            </a:pPr>
            <a:r>
              <a:t>"兩年前做太早 — 醫院沒有 FHIR Server"</a:t>
            </a:r>
          </a:p>
          <a:p>
            <a:pPr algn="ctr">
              <a:spcAft>
                <a:spcPts val="600"/>
              </a:spcAft>
              <a:defRPr sz="1800" b="1">
                <a:solidFill>
                  <a:srgbClr val="FF8C00"/>
                </a:solidFill>
                <a:latin typeface="Microsoft JhengHei"/>
              </a:defRPr>
            </a:pPr>
            <a:r>
              <a:t>"兩年後做太晚 — 別人已經卡位"</a:t>
            </a:r>
          </a:p>
          <a:p>
            <a:pPr algn="ctr">
              <a:spcAft>
                <a:spcPts val="60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"現在是唯一正確的時間點"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Microsoft JhengHei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🏰  護城河分析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27432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A65A"/>
                </a:solidFill>
                <a:latin typeface="Microsoft JhengHei"/>
              </a:defRPr>
            </a:pPr>
            <a:r>
              <a:t>技術門檻 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Microsoft JhengHei"/>
              </a:defRPr>
            </a:pPr>
            <a:r>
              <a:t>CQL 在亞洲幾乎沒人會寫</a:t>
            </a:r>
            <a:br/>
            <a:r>
              <a:t>FHIR + CQL + 39 指標的</a:t>
            </a:r>
            <a:br/>
            <a:r>
              <a:t>完整組合是稀缺能力</a:t>
            </a:r>
            <a:br/>
            <a:br/>
            <a:r>
              <a:t>已申請專利保護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463040"/>
            <a:ext cx="27432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Microsoft JhengHei"/>
              </a:defRPr>
            </a:pPr>
            <a:r>
              <a:t>網路效應  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945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Microsoft JhengHei"/>
              </a:defRPr>
            </a:pPr>
            <a:r>
              <a:t>醫院越多 → 數據越有價值</a:t>
            </a:r>
            <a:br/>
            <a:r>
              <a:t>→ 更多人買數據</a:t>
            </a:r>
            <a:br/>
            <a:r>
              <a:t>→ 更多醫院想加入</a:t>
            </a:r>
            <a:br/>
            <a:br/>
            <a:r>
              <a:t>一旦啟動，飛輪效應極強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7432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A65A"/>
                </a:solidFill>
                <a:latin typeface="Microsoft JhengHei"/>
              </a:defRPr>
            </a:pPr>
            <a:r>
              <a:t>轉換成本 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Microsoft JhengHei"/>
              </a:defRPr>
            </a:pPr>
            <a:r>
              <a:t>醫院接上系統後</a:t>
            </a:r>
            <a:br/>
            <a:r>
              <a:t>重新配置 FHIR 映射成本高</a:t>
            </a:r>
            <a:br/>
            <a:r>
              <a:t>品管人員已習慣操作介面</a:t>
            </a:r>
            <a:br/>
            <a:br/>
            <a:r>
              <a:t>換掉的痛苦 &gt; 留下的成本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463040"/>
            <a:ext cx="27432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Microsoft JhengHei"/>
              </a:defRPr>
            </a:pPr>
            <a:r>
              <a:t>數據資產  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1945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Microsoft JhengHei"/>
              </a:defRPr>
            </a:pPr>
            <a:r>
              <a:t>全台即時品質數據</a:t>
            </a:r>
            <a:br/>
            <a:r>
              <a:t>一旦累積 100+ 醫院 × 多年</a:t>
            </a:r>
            <a:br/>
            <a:r>
              <a:t>壟斷地位不可撼動</a:t>
            </a:r>
            <a:br/>
            <a:br/>
            <a:r>
              <a:t>這是終極護城河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394960"/>
            <a:ext cx="11430000" cy="11887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6B7B8D"/>
                </a:solidFill>
                <a:latin typeface="Microsoft JhengHei"/>
              </a:defRPr>
            </a:pPr>
            <a:r>
              <a:t>投資人常問：別人能不能抄？</a:t>
            </a:r>
          </a:p>
          <a:p>
            <a:pPr algn="l">
              <a:spcAft>
                <a:spcPts val="600"/>
              </a:spcAft>
              <a:defRPr sz="1600" b="1">
                <a:solidFill>
                  <a:srgbClr val="0F2B46"/>
                </a:solidFill>
                <a:latin typeface="Microsoft JhengHei"/>
              </a:defRPr>
            </a:pPr>
            <a:r>
              <a:t>→ CQL 引擎 + 39 項指標需要深厚臨床品質管理知識，不是純工程問題。已申請專利。而且先行者的數據資產優勢，後進者永遠追不上。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Microsoft JhengHei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🗓️  執行里程碑</a:t>
            </a:r>
          </a:p>
        </p:txBody>
      </p:sp>
      <p:sp>
        <p:nvSpPr>
          <p:cNvPr id="4" name="Rectangle 3"/>
          <p:cNvSpPr/>
          <p:nvPr/>
        </p:nvSpPr>
        <p:spPr>
          <a:xfrm>
            <a:off x="2834640" y="2103120"/>
            <a:ext cx="640080" cy="54864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182880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Microsoft JhengHei"/>
              </a:defRPr>
            </a:pPr>
            <a:r>
              <a:t>0-12 個月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560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Microsoft JhengHei"/>
              </a:defRPr>
            </a:pPr>
            <a:r>
              <a:t>Phase 1</a:t>
            </a:r>
            <a:br/>
            <a:r>
              <a:t>精實驗證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3832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JhengHei"/>
              </a:defRPr>
            </a:pPr>
            <a:r>
              <a:t>• 約聘模式運營</a:t>
            </a:r>
            <a:br/>
            <a:r>
              <a:t>• 取得 5-10 家醫院 Pilot</a:t>
            </a:r>
            <a:br/>
            <a:r>
              <a:t>• 完善產品穩定度</a:t>
            </a:r>
            <a:br/>
            <a:r>
              <a:t>• 月 burn rate &lt; 15 萬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94960"/>
            <a:ext cx="2194560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✅ 已完成產品原型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2103120"/>
            <a:ext cx="640080" cy="54864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51960" y="1828800"/>
            <a:ext cx="548640" cy="548640"/>
          </a:xfrm>
          <a:prstGeom prst="ellipse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Microsoft JhengHei"/>
              </a:defRPr>
            </a:pPr>
            <a:r>
              <a:t>12-24 個月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560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JhengHei"/>
              </a:defRPr>
            </a:pPr>
            <a:r>
              <a:t>Phase 2</a:t>
            </a:r>
            <a:br/>
            <a:r>
              <a:t>快速擴張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3832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JhengHei"/>
              </a:defRPr>
            </a:pPr>
            <a:r>
              <a:t>• 擴展至 30-50 家醫院</a:t>
            </a:r>
            <a:br/>
            <a:r>
              <a:t>• 數據開始有聚合價值</a:t>
            </a:r>
            <a:br/>
            <a:r>
              <a:t>• 爭取第一筆數據授權營收</a:t>
            </a:r>
            <a:br/>
            <a:r>
              <a:t>• 評估轉全職時機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5394960"/>
            <a:ext cx="2194560" cy="320040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5394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🎯 轉全職觸發點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2103120"/>
            <a:ext cx="640080" cy="54864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23760" y="1828800"/>
            <a:ext cx="548640" cy="548640"/>
          </a:xfrm>
          <a:prstGeom prst="ellipse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Microsoft JhengHei"/>
              </a:defRPr>
            </a:pPr>
            <a:r>
              <a:t>24-36 個月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560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A65A"/>
                </a:solidFill>
                <a:latin typeface="Microsoft JhengHei"/>
              </a:defRPr>
            </a:pPr>
            <a:r>
              <a:t>Phase 3</a:t>
            </a:r>
            <a:br/>
            <a:r>
              <a:t>數據變現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3832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JhengHei"/>
              </a:defRPr>
            </a:pPr>
            <a:r>
              <a:t>• 100+ 家醫院上線</a:t>
            </a:r>
            <a:br/>
            <a:r>
              <a:t>• 穩定數據授權營收</a:t>
            </a:r>
            <a:br/>
            <a:r>
              <a:t>• 啟動 Series A 募資</a:t>
            </a:r>
            <a:br/>
            <a:r>
              <a:t>• 開始評估海外市場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394960"/>
            <a:ext cx="2194560" cy="320040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394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💰 Series A Ready</a:t>
            </a:r>
          </a:p>
        </p:txBody>
      </p:sp>
      <p:sp>
        <p:nvSpPr>
          <p:cNvPr id="25" name="Oval 24"/>
          <p:cNvSpPr/>
          <p:nvPr/>
        </p:nvSpPr>
        <p:spPr>
          <a:xfrm>
            <a:off x="10195560" y="1828800"/>
            <a:ext cx="548640" cy="548640"/>
          </a:xfrm>
          <a:prstGeom prst="ellipse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Microsoft JhengHei"/>
              </a:defRPr>
            </a:pPr>
            <a:r>
              <a:t>36+ 個月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2560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B46"/>
                </a:solidFill>
                <a:latin typeface="Microsoft JhengHei"/>
              </a:defRPr>
            </a:pPr>
            <a:r>
              <a:t>Phase 4</a:t>
            </a:r>
            <a:br/>
            <a:r>
              <a:t>國際擴展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3832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JhengHei"/>
              </a:defRPr>
            </a:pPr>
            <a:r>
              <a:t>• 東南亞市場試點</a:t>
            </a:r>
            <a:br/>
            <a:r>
              <a:t>• FHIR + 伺服器外銷</a:t>
            </a:r>
            <a:br/>
            <a:r>
              <a:t>• 地區化 ValueSet 開發</a:t>
            </a:r>
            <a:br/>
            <a:r>
              <a:t>• 建立亞太區數據聯盟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72600" y="5394960"/>
            <a:ext cx="2194560" cy="32004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5394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🌏 亞太佈局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943600"/>
            <a:ext cx="1161288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B46"/>
                </a:solidFill>
                <a:latin typeface="Microsoft JhengHei"/>
              </a:defRPr>
            </a:pPr>
            <a:r>
              <a:t>💡 約聘模式月 burn rate ~15 萬 → 400 萬資金可支撐 26 個月跑道，足夠完成 Phase 1 + 進入 Phase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Microsoft JhengHei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👥  團隊與融資結構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2286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B46"/>
                </a:solidFill>
                <a:latin typeface="Microsoft JhengHei"/>
              </a:defRPr>
            </a:pPr>
            <a:r>
              <a:t>CEO / 創辦人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Microsoft JhengHei"/>
              </a:defRPr>
            </a:pPr>
            <a:r>
              <a:t>持股 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JhengHei"/>
              </a:defRPr>
            </a:pPr>
            <a:r>
              <a:t>FHIR/CQL 技術核心</a:t>
            </a:r>
            <a:br/>
            <a:r>
              <a:t>醫療品質管理領域專家</a:t>
            </a:r>
            <a:br/>
            <a:r>
              <a:t>產品與商業策略主導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B46"/>
                </a:solidFill>
                <a:latin typeface="Microsoft JhengHei"/>
              </a:defRPr>
            </a:pPr>
            <a:r>
              <a:t>CTO（約聘）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Microsoft JhengHei"/>
              </a:defRPr>
            </a:pPr>
            <a:r>
              <a:t>持股 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JhengHei"/>
              </a:defRPr>
            </a:pPr>
            <a:r>
              <a:t>系統架構與開發</a:t>
            </a:r>
            <a:br/>
            <a:r>
              <a:t>FHIR Server 對接</a:t>
            </a:r>
            <a:br/>
            <a:r>
              <a:t>4 年 vesting + 1 年 cliff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B46"/>
                </a:solidFill>
                <a:latin typeface="Microsoft JhengHei"/>
              </a:defRPr>
            </a:pPr>
            <a:r>
              <a:t>CFO（約聘）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Microsoft JhengHei"/>
              </a:defRPr>
            </a:pPr>
            <a:r>
              <a:t>持股 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3774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JhengHei"/>
              </a:defRPr>
            </a:pPr>
            <a:r>
              <a:t>財務規劃與募資</a:t>
            </a:r>
            <a:br/>
            <a:r>
              <a:t>醫院合約洽談</a:t>
            </a:r>
            <a:br/>
            <a:r>
              <a:t>4 年 vesting + 1 年 cliff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5486400" cy="25603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0F2B46"/>
                </a:solidFill>
                <a:latin typeface="Microsoft JhengHei"/>
              </a:defRPr>
            </a:pPr>
            <a:r>
              <a:t>種子輪融資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1A1A2E"/>
                </a:solidFill>
                <a:latin typeface="Microsoft JhengHei"/>
              </a:defRPr>
            </a:pP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Microsoft JhengHei"/>
              </a:defRPr>
            </a:pPr>
            <a:r>
              <a:t>募資金額：NT$ 300 萬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Microsoft JhengHei"/>
              </a:defRPr>
            </a:pPr>
            <a:r>
              <a:t>釋出股權：10%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Microsoft JhengHei"/>
              </a:defRPr>
            </a:pPr>
            <a:r>
              <a:t>Pre-money 估值：NT$ 2,700 萬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Microsoft JhengHei"/>
              </a:defRPr>
            </a:pPr>
            <a:r>
              <a:t>創辦人自有資金：NT$ 100 萬</a:t>
            </a:r>
          </a:p>
          <a:p>
            <a:pPr algn="l">
              <a:spcAft>
                <a:spcPts val="600"/>
              </a:spcAft>
              <a:defRPr sz="1600" b="1">
                <a:solidFill>
                  <a:srgbClr val="FF8C00"/>
                </a:solidFill>
                <a:latin typeface="Microsoft JhengHei"/>
              </a:defRPr>
            </a:pPr>
            <a:r>
              <a:t>總可用資金：NT$ 400 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023360"/>
            <a:ext cx="5486400" cy="25603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1480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0F2B46"/>
                </a:solidFill>
                <a:latin typeface="Microsoft JhengHei"/>
              </a:defRPr>
            </a:pPr>
            <a:r>
              <a:t>資金用途（月 burn rate ~15 萬）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1A1A2E"/>
                </a:solidFill>
                <a:latin typeface="Microsoft JhengHei"/>
              </a:defRPr>
            </a:pP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Microsoft JhengHei"/>
              </a:defRPr>
            </a:pPr>
            <a:r>
              <a:t>CTO 約聘：6-8 萬/月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Microsoft JhengHei"/>
              </a:defRPr>
            </a:pPr>
            <a:r>
              <a:t>CFO 約聘：2-3 萬/月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Microsoft JhengHei"/>
              </a:defRPr>
            </a:pPr>
            <a:r>
              <a:t>雲端/伺服器：1-2 萬/月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Microsoft JhengHei"/>
              </a:defRPr>
            </a:pPr>
            <a:r>
              <a:t>法律/專利維護：1 萬/月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Microsoft JhengHei"/>
              </a:defRPr>
            </a:pPr>
            <a:r>
              <a:t>差旅/展覽/雜支：1-2 萬/月</a:t>
            </a:r>
          </a:p>
          <a:p>
            <a:pPr algn="l">
              <a:spcAft>
                <a:spcPts val="600"/>
              </a:spcAft>
              <a:defRPr sz="1600" b="1">
                <a:solidFill>
                  <a:srgbClr val="00A65A"/>
                </a:solidFill>
                <a:latin typeface="Microsoft JhengHei"/>
              </a:defRPr>
            </a:pPr>
            <a:r>
              <a:t>→ 預估跑道：26 個月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Microsoft JhengHei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183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The Ask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FFFFF"/>
                </a:solidFill>
                <a:latin typeface="Microsoft JhengHei"/>
              </a:defRPr>
            </a:pPr>
          </a:p>
          <a:p>
            <a:pPr algn="ctr">
              <a:spcAft>
                <a:spcPts val="600"/>
              </a:spcAft>
              <a:defRPr sz="2800" b="1">
                <a:solidFill>
                  <a:srgbClr val="FF8C00"/>
                </a:solidFill>
                <a:latin typeface="Microsoft JhengHei"/>
              </a:defRPr>
            </a:pPr>
            <a:r>
              <a:t>我們正在尋找種子輪投資 NT$ 300 萬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</a:p>
          <a:p>
            <a:pPr algn="ctr">
              <a:spcAft>
                <a:spcPts val="600"/>
              </a:spcAft>
              <a:defRPr sz="2000" b="0">
                <a:solidFill>
                  <a:srgbClr val="FFFFFF"/>
                </a:solidFill>
                <a:latin typeface="Microsoft JhengHei"/>
              </a:defRPr>
            </a:pPr>
            <a:r>
              <a:t>用於取得第一批醫院試點合約、建立數據聚合管道</a:t>
            </a:r>
          </a:p>
          <a:p>
            <a:pPr algn="ctr">
              <a:spcAft>
                <a:spcPts val="600"/>
              </a:spcAft>
              <a:defRPr sz="2400" b="0">
                <a:solidFill>
                  <a:srgbClr val="FFFFFF"/>
                </a:solidFill>
                <a:latin typeface="Microsoft JhengHei"/>
              </a:defRPr>
            </a:pPr>
          </a:p>
          <a:p>
            <a:pPr algn="ctr">
              <a:spcAft>
                <a:spcPts val="600"/>
              </a:spcAft>
              <a:defRPr sz="2000" b="0">
                <a:solidFill>
                  <a:srgbClr val="6B7B8D"/>
                </a:solidFill>
                <a:latin typeface="Microsoft JhengHei"/>
              </a:defRPr>
            </a:pPr>
            <a:r>
              <a:t>━━━━━━━━━━━━━━━━━━━━━━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Aft>
                <a:spcPts val="600"/>
              </a:spcAft>
              <a:defRPr sz="2200" b="1">
                <a:solidFill>
                  <a:srgbClr val="0096D6"/>
                </a:solidFill>
                <a:latin typeface="Microsoft JhengHei"/>
              </a:defRPr>
            </a:pPr>
            <a:r>
              <a:t>我們已經有：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Microsoft JhengHei"/>
              </a:defRPr>
            </a:pPr>
            <a:r>
              <a:t>✅ 完整產品原型 — 39 項品質指標 + 4 大儀表板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Microsoft JhengHei"/>
              </a:defRPr>
            </a:pPr>
            <a:r>
              <a:t>✅ 政府認證 — 衛福部 SMART 50 得獎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Microsoft JhengHei"/>
              </a:defRPr>
            </a:pPr>
            <a:r>
              <a:t>✅ 專利保護 — 已申請專利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Microsoft JhengHei"/>
              </a:defRPr>
            </a:pPr>
            <a:r>
              <a:t>✅ 技術領先 — 台灣唯一 CQL 原生引擎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FFFF"/>
                </a:solidFill>
                <a:latin typeface="Microsoft JhengHei"/>
              </a:defRPr>
            </a:pPr>
            <a:r>
              <a:t>✅ 市場時機 — 衛福部強制推 FHIR，醫院必須跟進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FFFFF"/>
                </a:solidFill>
                <a:latin typeface="Microsoft JhengHei"/>
              </a:defRPr>
            </a:pPr>
          </a:p>
          <a:p>
            <a:pPr algn="ctr">
              <a:spcAft>
                <a:spcPts val="600"/>
              </a:spcAft>
              <a:defRPr sz="2200" b="1">
                <a:solidFill>
                  <a:srgbClr val="FF8C00"/>
                </a:solidFill>
                <a:latin typeface="Microsoft JhengHei"/>
              </a:defRPr>
            </a:pPr>
            <a:r>
              <a:t>我們需要的是第一推力，讓飛輪開始轉動。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Microsoft JhengHei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